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534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291840" cy="329184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955280" y="3291840"/>
            <a:ext cx="2377440" cy="2377440"/>
          </a:xfrm>
          <a:prstGeom prst="ellipse">
            <a:avLst/>
          </a:prstGeom>
          <a:solidFill>
            <a:srgbClr val="C9824A">
              <a:alpha val="4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FoodExpress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di food delivery con gamification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Oggetto del progetto — </a:t>
            </a:r>
            <a:r>
              <a:rPr lang="en-US" sz="14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web dove l'utente sfoglia il menu, ordina piatti e li riceve a domicilio. A ogni ordine guadagna punti fedelta, sale di livello e sblocca badge; una classifica premia i clienti migliori. Il sistema stima distanza, costo e tempo di consegna tramite un servizio esterno di geocoding.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9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   ·   Spring Boot 3   ·   MySQL   ·   REST + JWT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Ingegneria del Software · Universita degli Studi di Ferrara · A.A. 2025/2026 · Mahdi Allau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del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individuale — ruoli ricoperti a rotazione secondo la metodologia del corso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4672" y="1810512"/>
            <a:ext cx="457200" cy="45720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04672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Leader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 le attivita e le distribuisce sulla board.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Colonna: TO 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1554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575304" y="1810512"/>
            <a:ext cx="457200" cy="45720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575304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5304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75304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 le funzionalita ed esegue un primo test.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75304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Colonna: DONE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345936" y="1810512"/>
            <a:ext cx="457200" cy="45720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345936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5936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45936" y="2788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i requisiti siano soddisfatti.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45936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Colonna: VERIFIED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Evidenze delle cerimonie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Pianificazione, avanzamento e verifica gestiti su Trello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Flusso di lavoro (board Trello)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Pianificazione iniziale: scomposizione in task e stima.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Avanzamento: i task passano TO DO → DOING → DONE.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il Tester sposta i task in VERIFIED.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card riporta gli Story Points assegnati.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5544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F4EEE4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5321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32120" y="21488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98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53212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totali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34290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CRUD semplice = 2 SP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di Fibonacci (1,2,3,5,8,13)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Disegno funzionale (Miro)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Macro-funzioni ed entita del dominio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39" y="1554480"/>
            <a:ext cx="7772401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Macro-funzioni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&amp; Menu (piatti, categorie)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Carrello &amp; Ordini + geocoding consegna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(punti, livelli, badge, classifica)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 · Categoria · Piatto · Carrello · VoceCarrello · Ordine · VoceOrdine · Badge · UtenteBadge · Voucher · Impostazioni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Trello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TO DO / DOING / DONE / VERIFIED · board pubblica trello.com/b/N9uHwykS · ~34 Story Points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8321040" cy="3566160"/>
          </a:xfrm>
          <a:prstGeom prst="roundRect">
            <a:avLst>
              <a:gd name="adj" fmla="val 2051"/>
            </a:avLst>
          </a:prstGeom>
          <a:solidFill>
            <a:srgbClr val="1D2125"/>
          </a:solidFill>
          <a:ln/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57784" y="1581912"/>
            <a:ext cx="1897380" cy="3236976"/>
          </a:xfrm>
          <a:prstGeom prst="roundRect">
            <a:avLst>
              <a:gd name="adj" fmla="val 2410"/>
            </a:avLst>
          </a:prstGeom>
          <a:solidFill>
            <a:srgbClr val="2227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67512" y="165506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52244" y="1655064"/>
            <a:ext cx="384048" cy="274320"/>
          </a:xfrm>
          <a:prstGeom prst="rect">
            <a:avLst/>
          </a:prstGeom>
          <a:solidFill>
            <a:srgbClr val="1D21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2039112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40664" y="2039112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progetto: Spring Boot + Angular + MySQL (2 SP)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9224" y="2615184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40664" y="2615184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JWT — register/login (5 SP)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1468" y="1581912"/>
            <a:ext cx="1897380" cy="3236976"/>
          </a:xfrm>
          <a:prstGeom prst="roundRect">
            <a:avLst>
              <a:gd name="adj" fmla="val 2410"/>
            </a:avLst>
          </a:prstGeom>
          <a:solidFill>
            <a:srgbClr val="2227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11196" y="165506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95928" y="1655064"/>
            <a:ext cx="384048" cy="274320"/>
          </a:xfrm>
          <a:prstGeom prst="rect">
            <a:avLst/>
          </a:prstGeom>
          <a:solidFill>
            <a:srgbClr val="1D21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2908" y="2039112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784348" y="2039112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geocoding Nominatim per la consegna (5 SP)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45152" y="1581912"/>
            <a:ext cx="1897380" cy="3236976"/>
          </a:xfrm>
          <a:prstGeom prst="roundRect">
            <a:avLst>
              <a:gd name="adj" fmla="val 2410"/>
            </a:avLst>
          </a:prstGeom>
          <a:solidFill>
            <a:srgbClr val="2227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54880" y="165506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9612" y="1655064"/>
            <a:ext cx="384048" cy="274320"/>
          </a:xfrm>
          <a:prstGeom prst="rect">
            <a:avLst/>
          </a:prstGeom>
          <a:solidFill>
            <a:srgbClr val="1D21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2039112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28032" y="2039112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menu piatti + categorie (3 SP)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2615184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28032" y="2615184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Carrello + checkout ordine (5 SP)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36592" y="3191256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828032" y="3191256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punti/livelli/badge/classifica (5 SP)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36592" y="3767328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28032" y="3767328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admin: piatti, ordini, utenti, impostazioni (5 SP)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36592" y="4343400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28032" y="4343400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 carta/contanti + voucher (3 SP)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88836" y="1581912"/>
            <a:ext cx="1897380" cy="3236976"/>
          </a:xfrm>
          <a:prstGeom prst="roundRect">
            <a:avLst>
              <a:gd name="adj" fmla="val 2410"/>
            </a:avLst>
          </a:prstGeom>
          <a:solidFill>
            <a:srgbClr val="2227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798564" y="1655064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83296" y="1655064"/>
            <a:ext cx="384048" cy="274320"/>
          </a:xfrm>
          <a:prstGeom prst="rect">
            <a:avLst/>
          </a:prstGeom>
          <a:solidFill>
            <a:srgbClr val="1D21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FA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0276" y="2039112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871716" y="2039112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JUnit gamification + avvio context (2 SP)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80276" y="2615184"/>
            <a:ext cx="1714500" cy="502920"/>
          </a:xfrm>
          <a:prstGeom prst="roundRect">
            <a:avLst>
              <a:gd name="adj" fmla="val 7273"/>
            </a:avLst>
          </a:prstGeom>
          <a:solidFill>
            <a:srgbClr val="2C333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71716" y="2615184"/>
            <a:ext cx="1549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con foto + filtri (2 SP)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 JUnit + smoke test del context Spring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2286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 atteso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Calcolo livello dai punti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livello = 1 + punti/100 (0→1, 99→1, 100→2)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 ordine (assegnaPunti)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punti aggiornati, livello ricalcolato, badge sbloccato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gia posseduto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viene sbloccato di nuovo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contextLoads (H2)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5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l'intero context Spring si avvia correttamente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9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Esito: BUILD SUCCESSFUL  (gradlew test)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Disegno architetturale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layer separati, comunicazione REST, pattern MVC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2039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(SPA, componenti standalone)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429000" y="2039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4414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MVC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→ Model + DTO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309360" y="2039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4414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(JPA / Hibernate)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594360" cy="0"/>
          </a:xfrm>
          <a:prstGeom prst="line">
            <a:avLst/>
          </a:prstGeom>
          <a:noFill/>
          <a:ln w="31750">
            <a:solidFill>
              <a:srgbClr val="C982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6974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2560320"/>
            <a:ext cx="594360" cy="0"/>
          </a:xfrm>
          <a:prstGeom prst="line">
            <a:avLst/>
          </a:prstGeom>
          <a:noFill/>
          <a:ln w="31750">
            <a:solidFill>
              <a:srgbClr val="C9824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669280" y="21945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3657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4EEE4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429000" y="3822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8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Servizio esterno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/ OpenStreetMap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(geocoding consegna)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246120"/>
            <a:ext cx="0" cy="411480"/>
          </a:xfrm>
          <a:prstGeom prst="line">
            <a:avLst/>
          </a:prstGeom>
          <a:noFill/>
          <a:ln w="31750">
            <a:solidFill>
              <a:srgbClr val="6E9887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Sicurezza: autenticazione JWT stateless · Password cifrate con BCrypt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Funzionalita implementate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 utente/cliente e lato amministratore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8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/ login (JWT)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con filtri e foto dei piatti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Carrello + checkout come ospite o registrato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di consegna (geocoding)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carta/contanti + voucher sconto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fedelta, livelli, badge, classifica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del proprio profilo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89204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8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Amministratore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menu: CRUD piatti + foto + ricerca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Attiva/disattiva disponibilita piatto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ordini: accetta/rifiuta/stato spedizione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indirizzo di consegna di un ordine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utenti: blocca / elimina / vedi ordini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Impostazioni sito: nome, logo, contatti, news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4C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Dettaglio: Checkout con stima di consegna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REST esterna + logica di gamification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457200" cy="457200"/>
          </a:xfrm>
          <a:prstGeom prst="ellipse">
            <a:avLst/>
          </a:prstGeom>
          <a:solidFill>
            <a:srgbClr val="C982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270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L'utente inserisce l'indirizzo e conferma l'ordine.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C9824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/api/ordini/stima → il backend chiama Nominatim, geocodifica l'indirizzo e calcola la distanza dal ristorante (formula haversine) → costo e tempo di consegna.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218688"/>
            <a:ext cx="457200" cy="45720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1729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/api/ordini/checkout → crea l'ordine (snapshot delle voci), applica l'eventuale voucher, salva metodo di pagamento.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041648"/>
            <a:ext cx="457200" cy="45720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995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l'utente e registrato: assegna i punti fedelta, ricalcola il livello e sblocca i badge.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17383D"/>
          </a:solidFill>
          <a:ln w="12700">
            <a:solidFill>
              <a:srgbClr val="E2D6C6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008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8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057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OrdineService.checkout()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orchestrazione ordine + punti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GeocodingService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 → Nominatim + haversine + fallback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GamificationService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punti, livelli, badge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3108960"/>
            <a:ext cx="2926080" cy="2926080"/>
          </a:xfrm>
          <a:prstGeom prst="ellipse">
            <a:avLst/>
          </a:prstGeom>
          <a:solidFill>
            <a:srgbClr val="234C5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dell'esperienza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ho imparato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frontend/backend, API REST e pattern MVC, gestione dello stato lato client, integrazione di un servizio esterno e progettazione di meccaniche di gamification.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Difficolta affrontate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dello schema DB (colonne ed enum), servizio dei file immagine, e affidabilita del servizio di geocoding (gestita con un fallback).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 reali, tracking live della consegna, recensioni dei piatti e notifiche.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887</Words>
  <Application>Microsoft Office PowerPoint</Application>
  <PresentationFormat>Presentazione su schermo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FoodExpress - Relazione d'esame</dc:title>
  <dc:subject>PptxGenJS Presentation</dc:subject>
  <dc:creator>Mahdi Allau</dc:creator>
  <cp:lastModifiedBy>ALLAU MAHDI</cp:lastModifiedBy>
  <cp:revision>2</cp:revision>
  <dcterms:created xsi:type="dcterms:W3CDTF">2026-07-02T13:06:50Z</dcterms:created>
  <dcterms:modified xsi:type="dcterms:W3CDTF">2026-07-02T13:16:45Z</dcterms:modified>
</cp:coreProperties>
</file>